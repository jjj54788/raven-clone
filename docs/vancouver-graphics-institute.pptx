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155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0B3D91"/>
                </a:solidFill>
                <a:latin typeface="Microsoft YaHei"/>
              </a:defRPr>
            </a:pPr>
            <a:r>
              <a:t>?????????????????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17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>
                <a:solidFill>
                  <a:srgbClr val="6B7280"/>
                </a:solidFill>
                <a:latin typeface="Microsoft YaHei"/>
              </a:defRPr>
            </a:pPr>
            <a:r>
              <a:t>?????? ? ????????? | 2026-02-17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66960" y="320040"/>
            <a:ext cx="20116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12680" y="3200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??/??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solidFill>
            <a:srgbClr val="0FB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B3D91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? ????????????</a:t>
            </a:r>
          </a:p>
          <a:p>
            <a:pPr algn="l"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? ????????????</a:t>
            </a:r>
          </a:p>
          <a:p>
            <a:pPr algn="l"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? ??????3 ????</a:t>
            </a:r>
          </a:p>
          <a:p>
            <a:pPr algn="l"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? ????????????</a:t>
            </a:r>
          </a:p>
          <a:p>
            <a:pPr algn="l"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? ????????????</a:t>
            </a:r>
          </a:p>
          <a:p>
            <a:pPr algn="l"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? ?????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20040"/>
            <a:ext cx="20116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12680" y="3200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??/??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solidFill>
            <a:srgbClr val="0FB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B3D91"/>
                </a:solidFill>
                <a:latin typeface="Microsoft YaHei"/>
              </a:defRPr>
            </a:pPr>
            <a:r>
              <a:t>???????????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? ???????????????????</a:t>
            </a:r>
          </a:p>
          <a:p>
            <a:pPr algn="l"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? ???????????????????</a:t>
            </a:r>
          </a:p>
          <a:p>
            <a:pPr algn="l"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? ?????????/??/??/?????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6B7280"/>
                </a:solidFill>
                <a:latin typeface="Microsoft YaHei"/>
              </a:defRPr>
            </a:pPr>
            <a:r>
              <a:t>????????????????????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320040"/>
            <a:ext cx="20116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3200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??/??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solidFill>
            <a:srgbClr val="0FB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B3D91"/>
                </a:solidFill>
                <a:latin typeface="Microsoft YaHei"/>
              </a:defRPr>
            </a:pPr>
            <a:r>
              <a:t>????????????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? ????????????????????????</a:t>
            </a:r>
          </a:p>
          <a:p>
            <a:pPr algn="l"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? ???????????/??????????</a:t>
            </a:r>
          </a:p>
          <a:p>
            <a:pPr algn="l"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? ????????AI????????????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6B7280"/>
                </a:solidFill>
                <a:latin typeface="Microsoft YaHei"/>
              </a:defRPr>
            </a:pPr>
            <a:r>
              <a:t>????????????????????????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320040"/>
            <a:ext cx="20116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3200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??/??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solidFill>
            <a:srgbClr val="0FB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B3D91"/>
                </a:solidFill>
                <a:latin typeface="Microsoft YaHei"/>
              </a:defRPr>
            </a:pPr>
            <a:r>
              <a:t>?????????????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? ???????/???? 18 ?????????? 3 ?????????? 2 ?????</a:t>
            </a:r>
          </a:p>
          <a:p>
            <a:pPr algn="l"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? ????????? 5 ?????????????? 30%????</a:t>
            </a:r>
          </a:p>
          <a:p>
            <a:pPr algn="l"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? ???????/???? 9 ?????????? 6 ?????</a:t>
            </a:r>
          </a:p>
          <a:p>
            <a:pPr algn="l"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? ????????? 6 ????????/???? 70%????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20040"/>
            <a:ext cx="20116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12680" y="3200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??/??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solidFill>
            <a:srgbClr val="0FB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B3D91"/>
                </a:solidFill>
                <a:latin typeface="Microsoft YaHei"/>
              </a:defRPr>
            </a:pPr>
            <a:r>
              <a:t>?????????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109728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?????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????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????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??/??????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??????????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?????????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??/??/????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???? 35%????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?????????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???????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??/??/????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?????? 22%????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???AI??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???????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???/?????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??????? 28%????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966960" y="320040"/>
            <a:ext cx="20116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12680" y="3200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??/??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solidFill>
            <a:srgbClr val="0FB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???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B3D91"/>
                </a:solidFill>
                <a:latin typeface="Microsoft YaHei"/>
              </a:defRPr>
            </a:pPr>
            <a:r>
              <a:t>????????????????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? ?????????????????</a:t>
            </a:r>
          </a:p>
          <a:p>
            <a:pPr algn="l"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? ???????/??/????/????</a:t>
            </a:r>
          </a:p>
          <a:p>
            <a:pPr algn="l"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? ????????? 35%????????? 12ms????</a:t>
            </a:r>
          </a:p>
          <a:p>
            <a:pPr algn="l"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? ?????????/??/????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Microsoft YaHei"/>
              </a:defRPr>
            </a:pPr>
            <a:r>
              <a:t>?????????????????? v2????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320040"/>
            <a:ext cx="20116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3200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??/??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solidFill>
            <a:srgbClr val="0FB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???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B3D91"/>
                </a:solidFill>
                <a:latin typeface="Microsoft YaHei"/>
              </a:defRPr>
            </a:pPr>
            <a:r>
              <a:t>???????????????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? ????????????????????</a:t>
            </a:r>
          </a:p>
          <a:p>
            <a:pPr algn="l"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? ???????/??/????/????</a:t>
            </a:r>
          </a:p>
          <a:p>
            <a:pPr algn="l"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? ????????? 22%????????? 40%????</a:t>
            </a:r>
          </a:p>
          <a:p>
            <a:pPr algn="l"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? ?????????/????/????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Microsoft YaHei"/>
              </a:defRPr>
            </a:pPr>
            <a:r>
              <a:t>??????????????????????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320040"/>
            <a:ext cx="20116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3200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??/??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solidFill>
            <a:srgbClr val="0FB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???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B3D91"/>
                </a:solidFill>
                <a:latin typeface="Microsoft YaHei"/>
              </a:defRPr>
            </a:pPr>
            <a:r>
              <a:t>??? AI ???????/???????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? ??????????????</a:t>
            </a:r>
          </a:p>
          <a:p>
            <a:pPr algn="l"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? ????????????/????/?????</a:t>
            </a:r>
          </a:p>
          <a:p>
            <a:pPr algn="l"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? ?????????? 28%????????? 45%????</a:t>
            </a:r>
          </a:p>
          <a:p>
            <a:pPr algn="l"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? ?????????/????/????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Microsoft YaHei"/>
              </a:defRPr>
            </a:pPr>
            <a:r>
              <a:t>????????????????????????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320040"/>
            <a:ext cx="20116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3200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??/??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solidFill>
            <a:srgbClr val="0FB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B3D91"/>
                </a:solidFill>
                <a:latin typeface="Microsoft YaHei"/>
              </a:defRPr>
            </a:pPr>
            <a:r>
              <a:t>???????????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? ???????/??/???</a:t>
            </a:r>
          </a:p>
          <a:p>
            <a:pPr algn="l"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? ???????/??/??????</a:t>
            </a:r>
          </a:p>
          <a:p>
            <a:pPr algn="l"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? ?????????/??????</a:t>
            </a:r>
          </a:p>
          <a:p>
            <a:pPr algn="l"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? ???????/??/??/????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7548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Microsoft YaHei"/>
              </a:defRPr>
            </a:pPr>
            <a:r>
              <a:t>?????????? = ?????????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66960" y="320040"/>
            <a:ext cx="20116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3200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??/??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solidFill>
            <a:srgbClr val="0FB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B3D91"/>
                </a:solidFill>
                <a:latin typeface="Microsoft YaHei"/>
              </a:defRPr>
            </a:pPr>
            <a:r>
              <a:t>6?18 ?????????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7899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/>
                <a:gridCol w="3596640"/>
                <a:gridCol w="3596640"/>
              </a:tblGrid>
              <a:tr h="146304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0?6 ??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6?12 ??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12?18 ??</a:t>
                      </a:r>
                    </a:p>
                  </a:txBody>
                  <a:tcPr>
                    <a:solidFill>
                      <a:srgbClr val="0B3D91"/>
                    </a:solidFill>
                  </a:tcPr>
                </a:tc>
              </a:tr>
              <a:tr h="14630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????????</a:t>
                      </a:r>
                    </a:p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??????</a:t>
                      </a:r>
                    </a:p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???? + KPI ??</a:t>
                      </a:r>
                    </a:p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??????</a:t>
                      </a:r>
                    </a:p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??????</a:t>
                      </a:r>
                    </a:p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???????</a:t>
                      </a:r>
                    </a:p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Microsoft YaHei"/>
                        </a:defRPr>
                      </a:pPr>
                      <a:r>
                        <a:t>???????</a:t>
                      </a:r>
                    </a:p>
                  </a:txBody>
                  <a:tcPr/>
                </a:tc>
              </a:tr>
              <a:tr h="1463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B7280"/>
                          </a:solidFill>
                          <a:latin typeface="Microsoft YaHei"/>
                        </a:defRPr>
                      </a:pPr>
                      <a:r>
                        <a:t>KPI??? &amp; ????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B7280"/>
                          </a:solidFill>
                          <a:latin typeface="Microsoft YaHei"/>
                        </a:defRPr>
                      </a:pPr>
                      <a:r>
                        <a:t>KPI???????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6B7280"/>
                          </a:solidFill>
                          <a:latin typeface="Microsoft YaHei"/>
                        </a:defRPr>
                      </a:pPr>
                      <a:r>
                        <a:t>KPI??????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9966960" y="320040"/>
            <a:ext cx="20116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12680" y="3200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??/??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solidFill>
            <a:srgbClr val="0FB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?????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B3D91"/>
                </a:solidFill>
                <a:latin typeface="Microsoft YaHei"/>
              </a:defRPr>
            </a:pPr>
            <a:r>
              <a:t>?????????????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? ???????? + ??????? + ?????</a:t>
            </a:r>
          </a:p>
          <a:p>
            <a:pPr algn="l"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? ????????? + ???? + ????</a:t>
            </a:r>
          </a:p>
          <a:p>
            <a:pPr algn="l"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? ????????? 12 ?????????? $3.5M??????????????</a:t>
            </a:r>
          </a:p>
          <a:p>
            <a:pPr algn="l">
              <a:defRPr sz="2000">
                <a:solidFill>
                  <a:srgbClr val="1F2937"/>
                </a:solidFill>
                <a:latin typeface="Microsoft YaHei"/>
              </a:defRPr>
            </a:pPr>
            <a:r>
              <a:t>? ????????? + ????????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20040"/>
            <a:ext cx="20116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12680" y="3200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??/??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solidFill>
            <a:srgbClr val="0FB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B3D91"/>
                </a:solidFill>
                <a:latin typeface="Microsoft YaHei"/>
              </a:defRPr>
            </a:pPr>
            <a:r>
              <a:t>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? ???? ? ?? 2 ?????????</a:t>
            </a:r>
          </a:p>
          <a:p>
            <a:pPr algn="l"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? ????? ? ?????? + ????</a:t>
            </a:r>
          </a:p>
          <a:p>
            <a:pPr algn="l"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? ???? ? ???? + ??????</a:t>
            </a:r>
          </a:p>
          <a:p>
            <a:pPr algn="l">
              <a:defRPr sz="2200">
                <a:solidFill>
                  <a:srgbClr val="1F2937"/>
                </a:solidFill>
                <a:latin typeface="Microsoft YaHei"/>
              </a:defRPr>
            </a:pPr>
            <a:r>
              <a:t>? ???? ? ??? KPI ?????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20040"/>
            <a:ext cx="20116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12680" y="3200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??/??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20040"/>
            <a:ext cx="3657600" cy="411480"/>
          </a:xfrm>
          <a:prstGeom prst="rect">
            <a:avLst/>
          </a:prstGeom>
          <a:solidFill>
            <a:srgbClr val="0FB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474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??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B3D91"/>
                </a:solidFill>
                <a:latin typeface="Microsoft YaHei"/>
              </a:defRPr>
            </a:pPr>
            <a:r>
              <a:t>?????????????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1F2937"/>
                </a:solidFill>
                <a:latin typeface="Microsoft YaHei"/>
              </a:defRPr>
            </a:pPr>
            <a:r>
              <a:t>? ???????????????</a:t>
            </a:r>
          </a:p>
          <a:p>
            <a:pPr algn="l">
              <a:defRPr sz="2400">
                <a:solidFill>
                  <a:srgbClr val="1F2937"/>
                </a:solidFill>
                <a:latin typeface="Microsoft YaHei"/>
              </a:defRPr>
            </a:pPr>
            <a:r>
              <a:t>? ?? 18 ???????? KPI</a:t>
            </a:r>
          </a:p>
          <a:p>
            <a:pPr algn="l">
              <a:defRPr sz="2400">
                <a:solidFill>
                  <a:srgbClr val="1F2937"/>
                </a:solidFill>
                <a:latin typeface="Microsoft YaHei"/>
              </a:defRPr>
            </a:pPr>
            <a:r>
              <a:t>? ???????????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966960" y="320040"/>
            <a:ext cx="2011680" cy="3200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12680" y="320040"/>
            <a:ext cx="1920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??/??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